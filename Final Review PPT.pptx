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73" r:id="rId10"/>
    <p:sldId id="270" r:id="rId11"/>
    <p:sldId id="271" r:id="rId12"/>
    <p:sldId id="272" r:id="rId13"/>
    <p:sldId id="274" r:id="rId14"/>
    <p:sldId id="276" r:id="rId15"/>
    <p:sldId id="275" r:id="rId16"/>
    <p:sldId id="265" r:id="rId17"/>
    <p:sldId id="266" r:id="rId18"/>
    <p:sldId id="267" r:id="rId19"/>
    <p:sldId id="269" r:id="rId20"/>
  </p:sldIdLst>
  <p:sldSz cx="9144000" cy="5143500" type="screen16x9"/>
  <p:notesSz cx="5143500" cy="9144000"/>
  <p:embeddedFontLst>
    <p:embeddedFont>
      <p:font typeface="Raleway" pitchFamily="2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239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466D-5806-C3D7-992F-82DD0256C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C1A04-2892-096A-9D4F-DEF214757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5E029-547A-1853-051C-0592A59D4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C123F-144D-38C4-6E1B-5E28FFCFC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83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08D22-CD32-68B8-5C55-2E4DC751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EB98D-5EB1-038F-2AB6-57525BFE9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70256-5157-21B1-0EA2-039307EFC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B2F0D-ECC7-926A-5817-95889E9DC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883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F2821-B070-9303-22FD-0C3A5537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E6C0E-86F7-F4A0-1753-9B5973D23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F03FD-8AC0-82D6-3874-D04D6C2F8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65F64-B032-A462-2B09-9CDFFCF9D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7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FE11-83AE-BB2D-5ED0-44D652B4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E721F-31CF-3B8E-35AE-07A113751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C6A93-A68F-97CB-0F30-18D9F9C57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3A910-6DA6-6AF7-1554-E8CDABD38B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89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3F131-036B-52C5-2B73-1A5FD522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E3AAD-7C04-005C-B418-04E05E204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D66EF-228C-84A8-DFAA-3E7DFA0EE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B7E84-4118-2F69-A867-15A37E8C9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25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4C974-8E37-36F5-EFD7-D2F67791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D4C4B-CB94-0061-6013-560B1507F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384EE-F06A-41EA-69F8-B23EF4B32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DA6B3-49EC-854C-FF1D-5F6EF781F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4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573B3-82A3-B49E-DD8F-C3AC74B20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D94E6-712E-9EBE-6EC9-DAEBB1412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BEFFB-1FFC-BA77-6F0F-0EF3F756C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2A0EA-8EFA-4576-CE88-378FEDBA8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41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93067" y="1538064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Face Recognition System  &amp; Smart Image Management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95252" y="2200126"/>
            <a:ext cx="652388" cy="266402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2280307" y="2242617"/>
            <a:ext cx="48227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ARCFACE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18482" y="2200126"/>
            <a:ext cx="868710" cy="266402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8" name="Text 6"/>
          <p:cNvSpPr/>
          <p:nvPr/>
        </p:nvSpPr>
        <p:spPr>
          <a:xfrm>
            <a:off x="3003537" y="2242617"/>
            <a:ext cx="69859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INSIGHTFACE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58034" y="2200126"/>
            <a:ext cx="569044" cy="266402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10" name="Text 8"/>
          <p:cNvSpPr/>
          <p:nvPr/>
        </p:nvSpPr>
        <p:spPr>
          <a:xfrm>
            <a:off x="3943089" y="2242617"/>
            <a:ext cx="39893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MTCNN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97920" y="2200126"/>
            <a:ext cx="462707" cy="266402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82976" y="2242617"/>
            <a:ext cx="29259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31469" y="2200126"/>
            <a:ext cx="610939" cy="266402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6524" y="2242617"/>
            <a:ext cx="44082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DBSCAN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27463" y="2200126"/>
            <a:ext cx="1220986" cy="266402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16" name="Text 14"/>
          <p:cNvSpPr/>
          <p:nvPr/>
        </p:nvSpPr>
        <p:spPr>
          <a:xfrm>
            <a:off x="5812518" y="2242617"/>
            <a:ext cx="105087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STREAMLIT/GRADIO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75404" y="2940755"/>
            <a:ext cx="956065" cy="37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Review </a:t>
            </a:r>
            <a:endParaRPr lang="en-US" sz="1400" dirty="0"/>
          </a:p>
        </p:txBody>
      </p:sp>
      <p:pic>
        <p:nvPicPr>
          <p:cNvPr id="19" name="Picture 18" descr="VIT-AP University">
            <a:extLst>
              <a:ext uri="{FF2B5EF4-FFF2-40B4-BE49-F238E27FC236}">
                <a16:creationId xmlns:a16="http://schemas.microsoft.com/office/drawing/2014/main" id="{752F955A-E3B5-8DCA-620D-62F5690A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38" y="135276"/>
            <a:ext cx="2925204" cy="107175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B67EAC0-EA7F-E522-183A-948F4699A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904" y="129238"/>
            <a:ext cx="2813560" cy="1251701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13B2B057-18F6-A08C-8252-4C54CF249189}"/>
              </a:ext>
            </a:extLst>
          </p:cNvPr>
          <p:cNvSpPr/>
          <p:nvPr/>
        </p:nvSpPr>
        <p:spPr>
          <a:xfrm>
            <a:off x="3483642" y="3241468"/>
            <a:ext cx="2463729" cy="158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Patnala Siva Subramanyam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     21BSD7020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</a:t>
            </a: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B.Sc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</a:t>
            </a: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M.Sc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Data Science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B8D17F-1A05-DAED-0697-ECF1685D1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393" y="4536302"/>
            <a:ext cx="2229161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1402644"/>
            <a:ext cx="8417482" cy="794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nva Sans"/>
              </a:rPr>
              <a:t>Snapwelt</a:t>
            </a: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nva Sans"/>
              </a:rPr>
              <a:t> is an AI-enabled photo sharing and selling platform that provides a complete business solution for photographers, particularly for large-scale events like marathons and corporate functions. It uses AI face recognition technology to help users quickly find photos of themselves.</a:t>
            </a:r>
          </a:p>
          <a:p>
            <a:pPr marL="0" indent="0" algn="l">
              <a:buNone/>
            </a:pPr>
            <a:endPara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CE568742-7657-881E-B5C5-075D533FF223}"/>
              </a:ext>
            </a:extLst>
          </p:cNvPr>
          <p:cNvSpPr/>
          <p:nvPr/>
        </p:nvSpPr>
        <p:spPr>
          <a:xfrm>
            <a:off x="496119" y="382745"/>
            <a:ext cx="53338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</a:rPr>
              <a:t>Company Overview</a:t>
            </a:r>
            <a:endParaRPr lang="en-US" sz="2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3308AF-0B2F-5E21-6CA9-E09DF8431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615" y="110339"/>
            <a:ext cx="2813560" cy="1251701"/>
          </a:xfrm>
          <a:prstGeom prst="rect">
            <a:avLst/>
          </a:prstGeom>
        </p:spPr>
      </p:pic>
      <p:sp>
        <p:nvSpPr>
          <p:cNvPr id="23" name="Text 5">
            <a:extLst>
              <a:ext uri="{FF2B5EF4-FFF2-40B4-BE49-F238E27FC236}">
                <a16:creationId xmlns:a16="http://schemas.microsoft.com/office/drawing/2014/main" id="{71FE2729-E4CA-3DBB-F235-48A60AB54D49}"/>
              </a:ext>
            </a:extLst>
          </p:cNvPr>
          <p:cNvSpPr/>
          <p:nvPr/>
        </p:nvSpPr>
        <p:spPr>
          <a:xfrm>
            <a:off x="3281774" y="2250993"/>
            <a:ext cx="2580452" cy="33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Role : Machine Learning Intern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68BBE628-E3E9-D7C8-3CC5-ACD4E0901200}"/>
              </a:ext>
            </a:extLst>
          </p:cNvPr>
          <p:cNvSpPr/>
          <p:nvPr/>
        </p:nvSpPr>
        <p:spPr>
          <a:xfrm>
            <a:off x="3163044" y="2584846"/>
            <a:ext cx="2533497" cy="300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35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CC326E50-A389-E3D5-3027-24BFB466CF7E}"/>
              </a:ext>
            </a:extLst>
          </p:cNvPr>
          <p:cNvSpPr/>
          <p:nvPr/>
        </p:nvSpPr>
        <p:spPr>
          <a:xfrm>
            <a:off x="3375374" y="2605737"/>
            <a:ext cx="2548196" cy="33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nva Sans"/>
              </a:rPr>
              <a:t>https://www.snapwelt.com/</a:t>
            </a:r>
          </a:p>
          <a:p>
            <a:pPr marL="0" indent="0" algn="l">
              <a:lnSpc>
                <a:spcPts val="1700"/>
              </a:lnSpc>
              <a:buNone/>
            </a:pPr>
            <a:endParaRPr lang="en-US" sz="13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B66272-4919-A6CA-3EF7-1017CA9F2CEF}"/>
              </a:ext>
            </a:extLst>
          </p:cNvPr>
          <p:cNvSpPr txBox="1"/>
          <p:nvPr/>
        </p:nvSpPr>
        <p:spPr>
          <a:xfrm>
            <a:off x="2790672" y="2945833"/>
            <a:ext cx="35626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nva Sans"/>
              </a:rPr>
              <a:t>SNAPWELT(ARISIS TECHNOLOGIES PRIVATE LIMITED)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nva Sans"/>
              </a:rPr>
              <a:t>CIN : U72900TG2021PTC147675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nva Sans"/>
              </a:rPr>
              <a:t>PLOT NO. 931, 102, AYUSH AVENUE, RD NUMBER 48, OPP. CJR INTERNATIONAL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nva Sans"/>
              </a:rPr>
              <a:t>SCHOOL, AYYAPPA SOCIETY, HITEC CITY, MADHAPUR, TELANGANA 500081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115FC5-5D49-4740-0CFF-AAFAECF38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839" y="4532366"/>
            <a:ext cx="2229161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552" y="387102"/>
            <a:ext cx="53338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 &amp;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998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63030"/>
            <a:ext cx="390294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photo sorting is tedious and error-prone for large albums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automated system to find all photos of a specific person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 photography generates 1000s of unsorted images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privacy-first, self-hosted face search tools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4998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OBJECTIVES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863030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deep-learning face recognition pipeline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sub-second search across 10,000+ photos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Auto-cluster faces using DBSCAN (no label needed)</a:t>
            </a: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Sharing of Images to users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via interactive Streamlit web interface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7233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Photographers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4086597"/>
            <a:ext cx="2486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3080" y="37233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 Albums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33080" y="4086597"/>
            <a:ext cx="2486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0042" y="37233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10K+ Images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0042" y="4086597"/>
            <a:ext cx="2486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5A6D3A-B97A-3701-715C-2324A9458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483" y="4571920"/>
            <a:ext cx="2229161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92237"/>
            <a:ext cx="2267694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791617"/>
            <a:ext cx="453479" cy="544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9827" y="882253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999827" y="1058763"/>
            <a:ext cx="765579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 / ZIP Upload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79" y="1335807"/>
            <a:ext cx="453479" cy="5441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9827" y="1426443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999827" y="1602953"/>
            <a:ext cx="765579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RetinaFace / MTCNN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79" y="1879997"/>
            <a:ext cx="453479" cy="5441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9827" y="1970633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999827" y="2147143"/>
            <a:ext cx="765579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ArcFace 512-d Vector</a:t>
            </a:r>
            <a:endParaRPr lang="en-US" sz="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379" y="2424187"/>
            <a:ext cx="453479" cy="5441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9827" y="2514823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INDEX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999827" y="2691333"/>
            <a:ext cx="765579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 Vector DB</a:t>
            </a:r>
            <a:endParaRPr lang="en-US" sz="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379" y="2968377"/>
            <a:ext cx="453479" cy="54419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99827" y="3059013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</a:t>
            </a:r>
            <a:endParaRPr lang="en-US" sz="850" dirty="0"/>
          </a:p>
        </p:txBody>
      </p:sp>
      <p:sp>
        <p:nvSpPr>
          <p:cNvPr id="17" name="Text 10"/>
          <p:cNvSpPr/>
          <p:nvPr/>
        </p:nvSpPr>
        <p:spPr>
          <a:xfrm>
            <a:off x="999827" y="3235523"/>
            <a:ext cx="7655793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Cosine Similarity</a:t>
            </a:r>
            <a:endParaRPr lang="en-US" sz="700" dirty="0"/>
          </a:p>
        </p:txBody>
      </p:sp>
      <p:sp>
        <p:nvSpPr>
          <p:cNvPr id="18" name="Text 11"/>
          <p:cNvSpPr/>
          <p:nvPr/>
        </p:nvSpPr>
        <p:spPr>
          <a:xfrm>
            <a:off x="488379" y="3599557"/>
            <a:ext cx="1148804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488379" y="3886274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InsightFace buffalo_l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488379" y="4086002"/>
            <a:ext cx="2574578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face recognition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3289027" y="3886274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FAISS IndexFlatIP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3289027" y="4086002"/>
            <a:ext cx="2574578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Millisecond vector search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6089675" y="3886274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DBSCAN Clustering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6089675" y="4086002"/>
            <a:ext cx="2574578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face grouping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488379" y="4380384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Streamlit UI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488379" y="4580111"/>
            <a:ext cx="2574578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web frontend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3289027" y="4380384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MTCNN Detector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3289027" y="4580111"/>
            <a:ext cx="2574578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Fallback face detection</a:t>
            </a:r>
            <a:endParaRPr lang="en-US" sz="700" dirty="0"/>
          </a:p>
        </p:txBody>
      </p:sp>
      <p:sp>
        <p:nvSpPr>
          <p:cNvPr id="29" name="Text 22"/>
          <p:cNvSpPr/>
          <p:nvPr/>
        </p:nvSpPr>
        <p:spPr>
          <a:xfrm>
            <a:off x="6089675" y="4380384"/>
            <a:ext cx="1133847" cy="1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T4 GPU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6089675" y="4580111"/>
            <a:ext cx="2574578" cy="11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10x speed acceleration</a:t>
            </a:r>
            <a:endParaRPr lang="en-US" sz="7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B3E453B-96C7-ADF7-8404-65A73BA39A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7908" y="4581188"/>
            <a:ext cx="1266092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8076"/>
            <a:ext cx="318975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Components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66428"/>
            <a:ext cx="8151763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system leverages state-of-the-art deep learning models and efficient data structures to power robust face recognition and image management.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583457"/>
            <a:ext cx="4018434" cy="1503536"/>
          </a:xfrm>
          <a:prstGeom prst="roundRect">
            <a:avLst>
              <a:gd name="adj" fmla="val 356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0406" y="1597744"/>
            <a:ext cx="3989859" cy="382712"/>
          </a:xfrm>
          <a:prstGeom prst="roundRect">
            <a:avLst>
              <a:gd name="adj" fmla="val 9522"/>
            </a:avLst>
          </a:prstGeom>
          <a:solidFill>
            <a:srgbClr val="E1E1E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9676" y="1690985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952" y="2095277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Face Detection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7952" y="2363391"/>
            <a:ext cx="3734767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Utilizes </a:t>
            </a: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RetinaFace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MTCNN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algorithms to accurately pinpoint and extract all face regions within uploaded images, forming the critical first step in the pipeline.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29373" y="1583457"/>
            <a:ext cx="4018508" cy="1503536"/>
          </a:xfrm>
          <a:prstGeom prst="roundRect">
            <a:avLst>
              <a:gd name="adj" fmla="val 356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3661" y="1597744"/>
            <a:ext cx="3989933" cy="382712"/>
          </a:xfrm>
          <a:prstGeom prst="roundRect">
            <a:avLst>
              <a:gd name="adj" fmla="val 9522"/>
            </a:avLst>
          </a:prstGeom>
          <a:solidFill>
            <a:srgbClr val="E1E1E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2931" y="1690985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1206" y="2095277"/>
            <a:ext cx="1711747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Embedding Generation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771206" y="2363391"/>
            <a:ext cx="3734842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ArcFace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deep learning model converts detected faces into unique 512-dimensional numerical vectors (embeddings), encoding distinct facial features for comparison.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6119" y="3201814"/>
            <a:ext cx="4018434" cy="1503536"/>
          </a:xfrm>
          <a:prstGeom prst="roundRect">
            <a:avLst>
              <a:gd name="adj" fmla="val 356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0406" y="3216101"/>
            <a:ext cx="3989859" cy="382712"/>
          </a:xfrm>
          <a:prstGeom prst="roundRect">
            <a:avLst>
              <a:gd name="adj" fmla="val 9522"/>
            </a:avLst>
          </a:prstGeom>
          <a:solidFill>
            <a:srgbClr val="E1E1E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9676" y="3309342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952" y="3713634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Vector Indexing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7952" y="3981748"/>
            <a:ext cx="3734767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(Facebook AI Similarity Search) creates highly optimized indices for these embeddings, enabling sub-second similarity searches across large datasets (10,000+ photos).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29373" y="3201814"/>
            <a:ext cx="4018508" cy="1503536"/>
          </a:xfrm>
          <a:prstGeom prst="roundRect">
            <a:avLst>
              <a:gd name="adj" fmla="val 356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43661" y="3216101"/>
            <a:ext cx="3989933" cy="382712"/>
          </a:xfrm>
          <a:prstGeom prst="roundRect">
            <a:avLst>
              <a:gd name="adj" fmla="val 9522"/>
            </a:avLst>
          </a:prstGeom>
          <a:solidFill>
            <a:srgbClr val="E1E1E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2931" y="3309342"/>
            <a:ext cx="191319" cy="1913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71206" y="3713634"/>
            <a:ext cx="1813917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Unsupervised Clustering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771206" y="3981748"/>
            <a:ext cx="3734842" cy="58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DBSCAN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algorithm automatically groups similar facial embeddings into distinct clusters, efficiently organizing unknown faces without requiring any prior labeling.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7EB5DAF-DB3C-4D44-1661-509DBF43D8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5996" y="4774182"/>
            <a:ext cx="2229161" cy="3024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802"/>
            <a:ext cx="5495851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Learning Models &amp; Originality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248519"/>
            <a:ext cx="2020119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ArcFace (buffalo_l)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96119" y="1628924"/>
            <a:ext cx="391157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Recognition Engine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1954113"/>
            <a:ext cx="3911575" cy="1229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512-dimensional face embeddings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Additive Angular Margin loss function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ResNet-50 backbone trained on MS1MV3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 = 1.0 (unit normalized vectors)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State-of-art on LFW, IJB-C benchmarks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1069" y="1248519"/>
            <a:ext cx="2953122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FAISS – Vector Similarity Search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741069" y="1628924"/>
            <a:ext cx="3911575" cy="71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IndexFlatIP for cosine similarity (inner product)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Scales to millions of face embeddings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GPU-accelerated search (faiss-gpu)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41069" y="2476500"/>
            <a:ext cx="2486992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DBSCAN – Auto Clustering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741069" y="2856905"/>
            <a:ext cx="3911575" cy="71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need to specify number of persons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Cosine distance metric on L2-normalized embeddings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Noise points (Cluster -1) for outliers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6119" y="3813200"/>
            <a:ext cx="2470398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🔬</a:t>
            </a: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ORIGINAL CONTRIBUTIONS: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119" y="4215482"/>
            <a:ext cx="815176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Dual-backend fallback (InsightFace → DeepFace) · FAISS + DBSCAN fusion pipeline · Embedded duplicate removal · GPU-first design with CPU graceful degradation</a:t>
            </a:r>
            <a:endParaRPr lang="en-US" sz="10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FC7B50-19AE-405F-7798-19933E4E1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33894"/>
            <a:ext cx="2229161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9709"/>
            <a:ext cx="52077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 Met: Project Success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88815"/>
            <a:ext cx="4004965" cy="1275308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569765"/>
            <a:ext cx="4004965" cy="76200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</p:sp>
      <p:sp>
        <p:nvSpPr>
          <p:cNvPr id="5" name="Shape 3"/>
          <p:cNvSpPr/>
          <p:nvPr/>
        </p:nvSpPr>
        <p:spPr>
          <a:xfrm>
            <a:off x="2285963" y="1376214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3508" y="1503759"/>
            <a:ext cx="170111" cy="1701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6927" y="1943174"/>
            <a:ext cx="22995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Deep-learning Pipeline Built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integrated ArcFace, RetinaFace, and other advanced models for robust face recognition.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2842" y="1588815"/>
            <a:ext cx="4005039" cy="1275308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2842" y="1569765"/>
            <a:ext cx="4005039" cy="76200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</p:sp>
      <p:sp>
        <p:nvSpPr>
          <p:cNvPr id="11" name="Shape 8"/>
          <p:cNvSpPr/>
          <p:nvPr/>
        </p:nvSpPr>
        <p:spPr>
          <a:xfrm>
            <a:off x="6432686" y="1376214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0232" y="1503759"/>
            <a:ext cx="170111" cy="1701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3651" y="1943174"/>
            <a:ext cx="23598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Sub-Second Search Enabled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Achieved lightning-fast searches across 10,000+ photos using the FAISS vector database.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6119" y="3218483"/>
            <a:ext cx="4004965" cy="1275308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96119" y="3199433"/>
            <a:ext cx="4004965" cy="76200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</p:sp>
      <p:sp>
        <p:nvSpPr>
          <p:cNvPr id="17" name="Shape 13"/>
          <p:cNvSpPr/>
          <p:nvPr/>
        </p:nvSpPr>
        <p:spPr>
          <a:xfrm>
            <a:off x="2285963" y="3005882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3508" y="3133427"/>
            <a:ext cx="170111" cy="17011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6010" y="3549625"/>
            <a:ext cx="3825105" cy="306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DBSCAN Auto-Clustering &amp; image Smart Sharing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56927" y="379429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unsupervised DBSCAN for efficient grouping of faces without manual labeling and sharing those  cluster image through Email or </a:t>
            </a:r>
            <a:r>
              <a:rPr lang="en-US" sz="11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42842" y="3218483"/>
            <a:ext cx="4005039" cy="1275308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42842" y="3199433"/>
            <a:ext cx="4005039" cy="76200"/>
          </a:xfrm>
          <a:prstGeom prst="roundRect">
            <a:avLst>
              <a:gd name="adj" fmla="val 78140"/>
            </a:avLst>
          </a:prstGeom>
          <a:solidFill>
            <a:srgbClr val="1B1B27"/>
          </a:solidFill>
          <a:ln/>
        </p:spPr>
      </p:sp>
      <p:sp>
        <p:nvSpPr>
          <p:cNvPr id="23" name="Shape 18"/>
          <p:cNvSpPr/>
          <p:nvPr/>
        </p:nvSpPr>
        <p:spPr>
          <a:xfrm>
            <a:off x="6432686" y="3005882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0232" y="3133427"/>
            <a:ext cx="170111" cy="17011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03651" y="3572842"/>
            <a:ext cx="23461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Streamlit Interface Deployed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803651" y="3879354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an intuitive, interactive web application for easy image management and face search.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E6B608F-C95A-FE09-4D14-A94D1A02B9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4839" y="4556708"/>
            <a:ext cx="2229161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755"/>
            <a:ext cx="40243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496119" y="4451598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50" dirty="0">
                <a:solidFill>
                  <a:srgbClr val="7B7B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Snapwelt PVT LTD · Face Recognition System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B0C25F8-D177-217F-5158-084CE5880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33230"/>
            <a:ext cx="2229161" cy="57158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049AEB7-D568-0426-210B-29DEE8044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" y="750115"/>
            <a:ext cx="9144000" cy="40038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53B50-7F1E-F610-4F21-FE62840C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1B01E8-842C-7D30-D30A-A08374AEB58E}"/>
              </a:ext>
            </a:extLst>
          </p:cNvPr>
          <p:cNvSpPr/>
          <p:nvPr/>
        </p:nvSpPr>
        <p:spPr>
          <a:xfrm>
            <a:off x="496119" y="395755"/>
            <a:ext cx="40243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2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5756539E-D145-35E9-F683-72FB48A28974}"/>
              </a:ext>
            </a:extLst>
          </p:cNvPr>
          <p:cNvSpPr/>
          <p:nvPr/>
        </p:nvSpPr>
        <p:spPr>
          <a:xfrm>
            <a:off x="496119" y="4451598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50" dirty="0">
                <a:solidFill>
                  <a:srgbClr val="7B7B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Snapwelt PVT LTD · Face Recognition System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A0E6DEC-B713-A490-8218-76A0EB692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33230"/>
            <a:ext cx="2229161" cy="571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06B574-1272-A026-ABF6-39E009CB6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7945"/>
            <a:ext cx="9144000" cy="448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48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2E78C-CDF7-007C-6D64-BE9D9E6B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97749C-DEF3-03A6-BA04-98C38872CD41}"/>
              </a:ext>
            </a:extLst>
          </p:cNvPr>
          <p:cNvSpPr/>
          <p:nvPr/>
        </p:nvSpPr>
        <p:spPr>
          <a:xfrm>
            <a:off x="496119" y="395755"/>
            <a:ext cx="40243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2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86438255-9827-BC61-0804-06482D2580EA}"/>
              </a:ext>
            </a:extLst>
          </p:cNvPr>
          <p:cNvSpPr/>
          <p:nvPr/>
        </p:nvSpPr>
        <p:spPr>
          <a:xfrm>
            <a:off x="496119" y="4451598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50" dirty="0">
                <a:solidFill>
                  <a:srgbClr val="7B7B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Snapwelt PVT LTD · Face Recognition System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3A0B2A5-813F-975A-FF8F-E59A7EE0B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33230"/>
            <a:ext cx="2229161" cy="571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814269-ACC6-084C-C7B5-83B7061EB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0281"/>
            <a:ext cx="9144000" cy="428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2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F54B-C3CF-4618-148C-4E4E91C9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1E0474-F85A-9E58-5F44-AEBCD55F7C2D}"/>
              </a:ext>
            </a:extLst>
          </p:cNvPr>
          <p:cNvSpPr/>
          <p:nvPr/>
        </p:nvSpPr>
        <p:spPr>
          <a:xfrm>
            <a:off x="496119" y="395755"/>
            <a:ext cx="40243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2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D144D2A7-22EB-ADAC-300E-F048902B4CAA}"/>
              </a:ext>
            </a:extLst>
          </p:cNvPr>
          <p:cNvSpPr/>
          <p:nvPr/>
        </p:nvSpPr>
        <p:spPr>
          <a:xfrm>
            <a:off x="496119" y="4451598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50" dirty="0">
                <a:solidFill>
                  <a:srgbClr val="7B7B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Snapwelt PVT LTD · Face Recognition System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55F6AB7-D416-4ED2-0422-510108DAB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33230"/>
            <a:ext cx="2229161" cy="571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659E36-15AC-88C5-AA0E-7E4C05E91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1574"/>
            <a:ext cx="9144000" cy="434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7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E5BA9-DDB9-84A1-2ED9-8A406B0A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268EE7-6819-3635-ADC1-D3A490E8A701}"/>
              </a:ext>
            </a:extLst>
          </p:cNvPr>
          <p:cNvSpPr/>
          <p:nvPr/>
        </p:nvSpPr>
        <p:spPr>
          <a:xfrm>
            <a:off x="496119" y="395755"/>
            <a:ext cx="40243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2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18ECEE0F-DFF0-CE11-9579-9A961F5C18AD}"/>
              </a:ext>
            </a:extLst>
          </p:cNvPr>
          <p:cNvSpPr/>
          <p:nvPr/>
        </p:nvSpPr>
        <p:spPr>
          <a:xfrm>
            <a:off x="496119" y="4451598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50" dirty="0">
                <a:solidFill>
                  <a:srgbClr val="7B7B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Snapwelt PVT LTD · Face Recognition System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3516A0B-FD3B-1A51-10F3-6E85831D0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33230"/>
            <a:ext cx="2229161" cy="5715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DD03A4-76FD-04D9-F66C-1635D642D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4826"/>
            <a:ext cx="9144000" cy="429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13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A909-4E58-3B3B-9A71-F7417D31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2AF0DE-667C-EF2A-6C25-F8E7B1AC1394}"/>
              </a:ext>
            </a:extLst>
          </p:cNvPr>
          <p:cNvSpPr/>
          <p:nvPr/>
        </p:nvSpPr>
        <p:spPr>
          <a:xfrm>
            <a:off x="496119" y="395755"/>
            <a:ext cx="40243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2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84924B77-1C6B-D5CD-D180-CF2BABA7EA35}"/>
              </a:ext>
            </a:extLst>
          </p:cNvPr>
          <p:cNvSpPr/>
          <p:nvPr/>
        </p:nvSpPr>
        <p:spPr>
          <a:xfrm>
            <a:off x="496119" y="4451598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50" dirty="0">
                <a:solidFill>
                  <a:srgbClr val="7B7B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Snapwelt PVT LTD · Face Recognition System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3B0B6A1-6726-111A-1A1F-F526FDB30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33230"/>
            <a:ext cx="2229161" cy="57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E4F721-3ABA-64C0-E2CF-22F20BC91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4826"/>
            <a:ext cx="9144000" cy="437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33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0E0A0-666A-AA46-F525-5A6CA0DF7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6675BE-3834-CF06-A573-4088282A3A4C}"/>
              </a:ext>
            </a:extLst>
          </p:cNvPr>
          <p:cNvSpPr/>
          <p:nvPr/>
        </p:nvSpPr>
        <p:spPr>
          <a:xfrm>
            <a:off x="496119" y="395755"/>
            <a:ext cx="40243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2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484A0C0D-08D1-AA67-D1DA-797C959EC3BA}"/>
              </a:ext>
            </a:extLst>
          </p:cNvPr>
          <p:cNvSpPr/>
          <p:nvPr/>
        </p:nvSpPr>
        <p:spPr>
          <a:xfrm>
            <a:off x="496119" y="4451598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50" dirty="0">
                <a:solidFill>
                  <a:srgbClr val="7B7B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Snapwelt PVT LTD · Face Recognition System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15899D5-9075-5EAC-854B-277B71377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33230"/>
            <a:ext cx="2229161" cy="57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3B169B-9501-2D29-0426-966AA6348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1081"/>
            <a:ext cx="9144000" cy="430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32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CDF8A-F490-F692-F105-86B31943D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62CBDA-4A0B-6EFD-E133-F639F2FBF7EB}"/>
              </a:ext>
            </a:extLst>
          </p:cNvPr>
          <p:cNvSpPr/>
          <p:nvPr/>
        </p:nvSpPr>
        <p:spPr>
          <a:xfrm>
            <a:off x="496119" y="395755"/>
            <a:ext cx="40243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</a:t>
            </a:r>
            <a:endParaRPr lang="en-US" sz="22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44ED2DDC-3C4A-3F69-1CC6-0662F532D162}"/>
              </a:ext>
            </a:extLst>
          </p:cNvPr>
          <p:cNvSpPr/>
          <p:nvPr/>
        </p:nvSpPr>
        <p:spPr>
          <a:xfrm>
            <a:off x="496119" y="4451598"/>
            <a:ext cx="81517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50" dirty="0">
                <a:solidFill>
                  <a:srgbClr val="7B7B9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Snapwelt PVT LTD · Face Recognition System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5BB465A-5AAC-3810-D34A-9B22244FC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33230"/>
            <a:ext cx="2229161" cy="57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199486-A5ED-6660-CFF6-DBB45A60C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2595"/>
            <a:ext cx="9144000" cy="407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47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9931"/>
            <a:ext cx="3865364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Analytics, Clustering &amp; Visualizations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957560"/>
            <a:ext cx="1756246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PAIRWISE SIMILARITY HEATMAP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161380"/>
            <a:ext cx="4633615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Plotly visualization for ≤50 face DB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96119" y="1350318"/>
            <a:ext cx="4633615" cy="425946"/>
          </a:xfrm>
          <a:prstGeom prst="roundRect">
            <a:avLst>
              <a:gd name="adj" fmla="val 9086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43" y="1475259"/>
            <a:ext cx="115119" cy="9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486" y="1433140"/>
            <a:ext cx="4242122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cell shows cosine similarity between two face embeddings. The diagonal equals 1.0 for self-similarity.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359226" y="957560"/>
            <a:ext cx="183906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DBSCAN CLUSTER DISTRIBUTION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59226" y="1161380"/>
            <a:ext cx="329334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identities × 20 images = 100 embeddings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359226" y="1336849"/>
            <a:ext cx="329334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eps = 0.3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5359226" y="1525786"/>
            <a:ext cx="3293343" cy="304354"/>
          </a:xfrm>
          <a:prstGeom prst="roundRect">
            <a:avLst>
              <a:gd name="adj" fmla="val 12716"/>
            </a:avLst>
          </a:prstGeom>
          <a:solidFill>
            <a:srgbClr val="B6FCB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351" y="1650727"/>
            <a:ext cx="115119" cy="9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8594" y="1608609"/>
            <a:ext cx="2901851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Result:</a:t>
            </a: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5 clusters found (expected: 5) ✓</a:t>
            </a:r>
            <a:endParaRPr lang="en-US" sz="7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64829"/>
            <a:ext cx="230312" cy="23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6119" y="2270001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Similarity Analysis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96119" y="2449860"/>
            <a:ext cx="4038451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pairwise embedding relationships and identify matching patterns across the face database.</a:t>
            </a:r>
            <a:endParaRPr lang="en-US" sz="7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9430" y="1964829"/>
            <a:ext cx="230312" cy="23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09430" y="2270001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DBSCAN Clustering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4609430" y="2449860"/>
            <a:ext cx="4038451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embeddings by identity and verify that the model separates faces into stable clusters.</a:t>
            </a:r>
            <a:endParaRPr lang="en-US" sz="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812777"/>
            <a:ext cx="230312" cy="2303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6119" y="3117949"/>
            <a:ext cx="120521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Embeddings Overview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96119" y="3297808"/>
            <a:ext cx="4038451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PCA visualization, cluster size distribution, and embedding statistics in one place.</a:t>
            </a:r>
            <a:endParaRPr lang="en-US" sz="7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09430" y="2812777"/>
            <a:ext cx="230312" cy="2303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609430" y="3117949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Export &amp; Review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4609430" y="3297808"/>
            <a:ext cx="4038451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analytics to CSV for reporting, debugging, and offline inspection.</a:t>
            </a:r>
            <a:endParaRPr lang="en-US" sz="700" dirty="0"/>
          </a:p>
        </p:txBody>
      </p:sp>
      <p:sp>
        <p:nvSpPr>
          <p:cNvPr id="26" name="Text 18"/>
          <p:cNvSpPr/>
          <p:nvPr/>
        </p:nvSpPr>
        <p:spPr>
          <a:xfrm>
            <a:off x="496119" y="3509218"/>
            <a:ext cx="147317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 TAB FEATURES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496119" y="3743027"/>
            <a:ext cx="8151763" cy="69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Pairwise Similarity Heatmap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PCA 2D Embedding Visualization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Size Distribution Chart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Statistics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to CSV</a:t>
            </a:r>
            <a:endParaRPr lang="en-US" sz="700" dirty="0"/>
          </a:p>
        </p:txBody>
      </p:sp>
      <p:sp>
        <p:nvSpPr>
          <p:cNvPr id="28" name="Text 20"/>
          <p:cNvSpPr/>
          <p:nvPr/>
        </p:nvSpPr>
        <p:spPr>
          <a:xfrm>
            <a:off x="496119" y="4501976"/>
            <a:ext cx="815176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Snapwelt PVT LTD - Face Recognition System</a:t>
            </a:r>
            <a:endParaRPr lang="en-US" sz="7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F03825D-51C0-A012-7EEB-4717FFCB00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4839" y="4590975"/>
            <a:ext cx="2229161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7437"/>
            <a:ext cx="633494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 Features &amp; UI Walkthrough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847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DATABASE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47999"/>
            <a:ext cx="248632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images / ZIP archive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face detection (MTCNN / RetinaFace)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ArcFace 512-d embedding per face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FAISS index construction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preview of indexed faces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33080" y="14847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FACES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33080" y="1847999"/>
            <a:ext cx="248632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one query face image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Sub-second cosine similarity search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Score-ranked results grid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vs Best Match comparison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Download CSV + ZIP of matches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0042" y="14847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70042" y="1847999"/>
            <a:ext cx="248632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Similarity heatmap (Plotly)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DBSCAN face clustering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PCA 2D embedding scatter plot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size distribution bar chart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statistics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422924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Snapwelt PVT LTD · Face Recognition System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B6BF71-7C2C-2121-D3D8-B2CADCC21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19275"/>
            <a:ext cx="2229161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5335"/>
            <a:ext cx="608044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Analytical Study: Threshold &amp; Search Accuracy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0881" y="1289148"/>
            <a:ext cx="293675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COSINE SIMILARITY THRESHOLD BEHAVIOR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0881" y="1602357"/>
            <a:ext cx="8151763" cy="1417439"/>
          </a:xfrm>
          <a:prstGeom prst="roundRect">
            <a:avLst>
              <a:gd name="adj" fmla="val 336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5643" y="1607119"/>
            <a:ext cx="8142238" cy="2815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19125" y="1666279"/>
            <a:ext cx="1236390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Threshold Range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087091" y="1666279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552676" y="1666279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18261" y="1666279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83846" y="1666279"/>
            <a:ext cx="205062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For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5643" y="1888702"/>
            <a:ext cx="8142238" cy="2815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9125" y="1947861"/>
            <a:ext cx="1236390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F65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0.30 – 0.40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87091" y="1947861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F65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Permissive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52676" y="1947861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F65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18261" y="1947861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3E97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83846" y="1947861"/>
            <a:ext cx="205062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Exploratory / Large datasets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5643" y="2170285"/>
            <a:ext cx="8142238" cy="2815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9125" y="2229444"/>
            <a:ext cx="1236390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43E97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0.45 (default)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87091" y="2229444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43E97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Balanced ★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52676" y="2229444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797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18261" y="2229444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797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83846" y="2229444"/>
            <a:ext cx="205062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 event photography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5643" y="2451868"/>
            <a:ext cx="8142238" cy="2815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9125" y="2511027"/>
            <a:ext cx="1236390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58C4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0.55 – 0.70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87091" y="2511027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58C4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52676" y="2511027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3E97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18261" y="2511027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F65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83846" y="2511027"/>
            <a:ext cx="205062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Identity verification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5643" y="2733451"/>
            <a:ext cx="8142238" cy="2815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19125" y="2792610"/>
            <a:ext cx="1236390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6C63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 0.95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87091" y="2792610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6C63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Duplicate detection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52676" y="2792610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43E97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High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18261" y="2792610"/>
            <a:ext cx="123400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FF658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Very Low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83846" y="2792610"/>
            <a:ext cx="2050628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De-duplication only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0881" y="3155825"/>
            <a:ext cx="241830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DBSCAN eps SENSITIVITY ANALYSIS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0881" y="3550666"/>
            <a:ext cx="253245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58C4F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eps = 0.20–0.30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0881" y="3795563"/>
            <a:ext cx="253245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clusters, many small groups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14774" y="3550666"/>
            <a:ext cx="253245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43E97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eps = 0.35–0.45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14774" y="3795563"/>
            <a:ext cx="253245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Balanced (recommended default)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28667" y="3550666"/>
            <a:ext cx="253245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F797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eps = 0.50–0.70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28667" y="3795563"/>
            <a:ext cx="2532459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Loose clusters, fewer large groups</a:t>
            </a:r>
            <a:endParaRPr lang="en-US" sz="8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6631DD3-7713-4F0B-F391-EC9926E58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839" y="4522731"/>
            <a:ext cx="2229161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882"/>
            <a:ext cx="3830836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Future 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97607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ACHIEVEMENTS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411709"/>
            <a:ext cx="3920282" cy="113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face recognition pipeline implemented end-to-end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Streamlit app deployed 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DBSCAN correctly clusters 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Sharing of Clustered Images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Export: embeddings .pkl, results CSV, matched ZIP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732362" y="1097607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32362" y="1411709"/>
            <a:ext cx="3920282" cy="113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app integration (Android / iOS)</a:t>
            </a:r>
            <a:endParaRPr lang="en-US" sz="10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video stream face recognition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6119" y="4537695"/>
            <a:ext cx="81517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· Snapwelt PVT LTD · See. Snap. Share.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BBFFC38-27A1-172C-14C3-CD3AB5356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701" y="2915989"/>
            <a:ext cx="2819400" cy="12477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8330219-B36A-3A28-E008-BC9359A71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839" y="4558757"/>
            <a:ext cx="2229161" cy="571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1073</Words>
  <Application>Microsoft Office PowerPoint</Application>
  <PresentationFormat>On-screen Show (16:9)</PresentationFormat>
  <Paragraphs>221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Subbu P</dc:creator>
  <cp:lastModifiedBy>Subbu P</cp:lastModifiedBy>
  <cp:revision>10</cp:revision>
  <dcterms:created xsi:type="dcterms:W3CDTF">2026-05-07T10:27:15Z</dcterms:created>
  <dcterms:modified xsi:type="dcterms:W3CDTF">2026-06-14T06:14:12Z</dcterms:modified>
</cp:coreProperties>
</file>